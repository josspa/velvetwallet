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jgReercx1RRdeRJ5d4TFBAhrVbF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6BCCCEB-90AD-4ED3-B8C1-A49E3925C339}">
  <a:tblStyle styleId="{96BCCCEB-90AD-4ED3-B8C1-A49E3925C33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0:25 · Jossue. Presentarse ambos. Frase de apertura: no estamos construyendo otra app para anotar gastos, estamos construyendo un consumidor del Sistema de Finanzas Abiertas chileno.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0:55 · Jossue. La v1 no es una app vieja: es nuestra especificación de requisitos ya validada. Su uso reveló que la carga manual genera abandono.</a:t>
            </a:r>
            <a:endParaRPr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1:15 · Jossue. La diapositiva más importante. Decirlo antes de que lo pregunten: no podemos conectarnos a bancos reales porque el sistema no está vigente, así que construimos contra la especificación pública más un simulador propio. Eso obliga a entender los dos lados del estándar.</a:t>
            </a:r>
            <a:endParaRPr/>
          </a:p>
        </p:txBody>
      </p:sp>
      <p:sp>
        <p:nvSpPr>
          <p:cNvPr id="45" name="Google Shape;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0:50 · Pedro. Detenerse solo en la 2 y la 5: las dos bases de datos están justificadas por la arquitectura, y el marco regulatorio es el eje del proyecto.</a:t>
            </a:r>
            <a:endParaRPr/>
          </a:p>
        </p:txBody>
      </p:sp>
      <p:sp>
        <p:nvSpPr>
          <p:cNvPr id="64" name="Google Shape;6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" name="Google Shape;7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0:35 · Ambos. Cada uno dice una frase sobre su propio interés: la asignatura evalúa este punto de forma individual.</a:t>
            </a:r>
            <a:endParaRPr/>
          </a:p>
        </p:txBody>
      </p:sp>
      <p:sp>
        <p:nvSpPr>
          <p:cNvPr id="75" name="Google Shape;7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1:05 · Jossue. PUNTO DE CONTROL: al terminar esta diapositiva deben ir en 5:05. Si van atrasados, acelerar las diapositivas 11 a 15, que son visuales.</a:t>
            </a:r>
            <a:endParaRPr/>
          </a:p>
        </p:txBody>
      </p:sp>
      <p:sp>
        <p:nvSpPr>
          <p:cNvPr id="93" name="Google Shape;9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1:00 · Pedro. Leer el objetivo general completo y despacio. Los seis específicos no se leen uno por uno: agruparlos en tres ideas — traer los datos, entenderlos, y cumplir la ley.</a:t>
            </a:r>
            <a:endParaRPr/>
          </a:p>
        </p:txBody>
      </p:sp>
      <p:sp>
        <p:nvSpPr>
          <p:cNvPr id="112" name="Google Shape;11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0:50 · Jossue. Esta diapositiva cubre los puntos 6 y 9 del temario: la propuesta metodológica y su clasificación.</a:t>
            </a:r>
            <a:endParaRPr/>
          </a:p>
        </p:txBody>
      </p:sp>
      <p:sp>
        <p:nvSpPr>
          <p:cNvPr id="141" name="Google Shape;14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0:40 · Jossue. La regla de reparto: dentro de cada bloque uno toma las tareas pares y el otro las impares, de modo que ambos acumulemos evidencia individual en todas las capas.</a:t>
            </a:r>
            <a:endParaRPr/>
          </a:p>
        </p:txBody>
      </p:sp>
      <p:sp>
        <p:nvSpPr>
          <p:cNvPr id="156" name="Google Shape;15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0:30 · Pedro. Cerrar con la fecha de la ley: es el mejor argumento de oportunidad del proyecto.</a:t>
            </a:r>
            <a:endParaRPr/>
          </a:p>
        </p:txBody>
      </p:sp>
      <p:sp>
        <p:nvSpPr>
          <p:cNvPr id="166" name="Google Shape;16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0:40 · Pedro. Recorrer los seis bloques sin detenerse en cada librería. Dedicar la mitad del tiempo al recuadro de GitHub Projects.</a:t>
            </a:r>
            <a:endParaRPr/>
          </a:p>
        </p:txBody>
      </p:sp>
      <p:sp>
        <p:nvSpPr>
          <p:cNvPr id="179" name="Google Shape;17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0:35 · Jossue. Rápido. Señalar que cada actividad tiene responsable identificado y que ambos participamos en todos los bloques.</a:t>
            </a:r>
            <a:endParaRPr/>
          </a:p>
        </p:txBody>
      </p:sp>
      <p:sp>
        <p:nvSpPr>
          <p:cNvPr id="209" name="Google Shape;20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0:50 · Pedro. No recorrer tabla por tabla. La idea: PostgreSQL guarda lo que significa, MongoDB guarda lo que llegó. Los payloads no tienen esquema fijo porque cada fuente entrega distinto.</a:t>
            </a:r>
            <a:endParaRPr/>
          </a:p>
        </p:txBody>
      </p:sp>
      <p:sp>
        <p:nvSpPr>
          <p:cNvPr id="220" name="Google Shape;220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0:45 · Pedro. Lo que hay que decir es el recuadro rojo. Las tres responden al mismo criterio: el sistema admite lo que no sabe antes que aparentar precisión que no tiene.</a:t>
            </a:r>
            <a:endParaRPr/>
          </a:p>
        </p:txBody>
      </p:sp>
      <p:sp>
        <p:nvSpPr>
          <p:cNvPr id="231" name="Google Shape;231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0:50 · Pedro. No describir pantalla por pantalla. Señalar dos: Por revisar, donde el clasificador dice no sé en vez de inventar; y Deudas, donde los datos del crédito llegan por el estándar.</a:t>
            </a:r>
            <a:endParaRPr/>
          </a:p>
        </p:txBody>
      </p:sp>
      <p:sp>
        <p:nvSpPr>
          <p:cNvPr id="247" name="Google Shape;247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11" Type="http://schemas.openxmlformats.org/officeDocument/2006/relationships/image" Target="../media/image6.png"/><Relationship Id="rId10" Type="http://schemas.openxmlformats.org/officeDocument/2006/relationships/image" Target="../media/image7.png"/><Relationship Id="rId12" Type="http://schemas.openxmlformats.org/officeDocument/2006/relationships/image" Target="../media/image10.png"/><Relationship Id="rId9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8.png"/><Relationship Id="rId7" Type="http://schemas.openxmlformats.org/officeDocument/2006/relationships/image" Target="../media/image2.png"/><Relationship Id="rId8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01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822960" cy="6858000"/>
          </a:xfrm>
          <a:prstGeom prst="rect">
            <a:avLst/>
          </a:prstGeom>
          <a:solidFill>
            <a:srgbClr val="15161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640080" y="1737360"/>
            <a:ext cx="384048" cy="384048"/>
          </a:xfrm>
          <a:prstGeom prst="roundRect">
            <a:avLst>
              <a:gd fmla="val 19048" name="adj"/>
            </a:avLst>
          </a:prstGeom>
          <a:solidFill>
            <a:srgbClr val="EE34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207008" y="1719072"/>
            <a:ext cx="54864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VELVET WALLET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640080" y="2377440"/>
            <a:ext cx="960120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Aplicación móvil de finanzas personales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consumidora del Sistema de Finanzas Abiertas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640080" y="40233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3450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EE3450"/>
                </a:solidFill>
                <a:latin typeface="Calibri"/>
                <a:ea typeface="Calibri"/>
                <a:cs typeface="Calibri"/>
                <a:sym typeface="Calibri"/>
              </a:rPr>
              <a:t>Proyecto APT · Fase 1 · Definición del proyecto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640080" y="5029200"/>
            <a:ext cx="91440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PADRON JOSSUE   ·   TORRES PEDRO</a:t>
            </a:r>
            <a:b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300" u="none" cap="none" strike="noStrike">
                <a:solidFill>
                  <a:srgbClr val="9DA0A8"/>
                </a:solidFill>
                <a:latin typeface="Calibri"/>
                <a:ea typeface="Calibri"/>
                <a:cs typeface="Calibri"/>
                <a:sym typeface="Calibri"/>
              </a:rPr>
              <a:t>Ingeniería en Informática · Duoc UC, sede Puerto Montt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9DA0A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DA0A8"/>
                </a:solidFill>
                <a:latin typeface="Calibri"/>
                <a:ea typeface="Calibri"/>
                <a:cs typeface="Calibri"/>
                <a:sym typeface="Calibri"/>
              </a:rPr>
              <a:t>Capstone APT122 · septiembre de 2026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014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34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E3450"/>
                </a:solidFill>
                <a:latin typeface="Calibri"/>
                <a:ea typeface="Calibri"/>
                <a:cs typeface="Calibri"/>
                <a:sym typeface="Calibri"/>
              </a:rPr>
              <a:t>1 · DESCRIPCIÓN Y RELEVANCIA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2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alibri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Tres preguntas que nadie responde rápido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640080" y="1874520"/>
            <a:ext cx="3429000" cy="1965960"/>
          </a:xfrm>
          <a:prstGeom prst="roundRect">
            <a:avLst>
              <a:gd fmla="val 4651" name="adj"/>
            </a:avLst>
          </a:prstGeom>
          <a:solidFill>
            <a:srgbClr val="1A1C22"/>
          </a:solidFill>
          <a:ln cap="flat" cmpd="sng" w="12700">
            <a:solidFill>
              <a:srgbClr val="2A2D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"/>
          <p:cNvSpPr/>
          <p:nvPr/>
        </p:nvSpPr>
        <p:spPr>
          <a:xfrm>
            <a:off x="868680" y="20116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345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E345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868680" y="2651760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¿Cuánto tengo disponible este mes?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4343400" y="1874520"/>
            <a:ext cx="3429000" cy="1965960"/>
          </a:xfrm>
          <a:prstGeom prst="roundRect">
            <a:avLst>
              <a:gd fmla="val 4651" name="adj"/>
            </a:avLst>
          </a:prstGeom>
          <a:solidFill>
            <a:srgbClr val="1A1C22"/>
          </a:solidFill>
          <a:ln cap="flat" cmpd="sng" w="12700">
            <a:solidFill>
              <a:srgbClr val="2A2D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4572000" y="20116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345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E345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4572000" y="2651760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¿En qué se me va la plata?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8046720" y="1874520"/>
            <a:ext cx="3429000" cy="1965960"/>
          </a:xfrm>
          <a:prstGeom prst="roundRect">
            <a:avLst>
              <a:gd fmla="val 4651" name="adj"/>
            </a:avLst>
          </a:prstGeom>
          <a:solidFill>
            <a:srgbClr val="1A1C22"/>
          </a:solidFill>
          <a:ln cap="flat" cmpd="sng" w="12700">
            <a:solidFill>
              <a:srgbClr val="2A2D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8275320" y="201168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3450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EE345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8275320" y="2651760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¿Cuándo voy a poder comprar lo que quiero?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640080" y="4206240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A0A8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9DA0A8"/>
                </a:solidFill>
                <a:latin typeface="Calibri"/>
                <a:ea typeface="Calibri"/>
                <a:cs typeface="Calibri"/>
                <a:sym typeface="Calibri"/>
              </a:rPr>
              <a:t>Los datos financieros de una persona están repartidos entre bancos, tarjetas y fintechs, y ninguna institución los entrega de forma que otro programa pueda leerlos. La alternativa es anotar todo a mano — y eso genera abandono.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40080" y="5212080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3450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EE3450"/>
                </a:solidFill>
                <a:latin typeface="Calibri"/>
                <a:ea typeface="Calibri"/>
                <a:cs typeface="Calibri"/>
                <a:sym typeface="Calibri"/>
              </a:rPr>
              <a:t>Estas tres preguntas no las inventamos: vienen de un prototipo previo que construimos y usamos, la versión 1 de Velvet Wallet.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17A"/>
                </a:solidFill>
                <a:latin typeface="Calibri"/>
                <a:ea typeface="Calibri"/>
                <a:cs typeface="Calibri"/>
                <a:sym typeface="Calibri"/>
              </a:rPr>
              <a:t>Velvet Wallet  ·  Capstone APT122  · 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17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014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34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E3450"/>
                </a:solidFill>
                <a:latin typeface="Calibri"/>
                <a:ea typeface="Calibri"/>
                <a:cs typeface="Calibri"/>
                <a:sym typeface="Calibri"/>
              </a:rPr>
              <a:t>1 · DESCRIPCIÓN Y RELEVANCIA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alibri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Sistema de Finanzas Abiertas cambia la regla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640080" y="1572768"/>
            <a:ext cx="10515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DA0A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9DA0A8"/>
                </a:solidFill>
                <a:latin typeface="Calibri"/>
                <a:ea typeface="Calibri"/>
                <a:cs typeface="Calibri"/>
                <a:sym typeface="Calibri"/>
              </a:rPr>
              <a:t>La Ley 21.521 obliga a las instituciones financieras a entregar los datos del cliente por APIs estandarizadas cuando este lo autoriza. Los datos son del usuario, no del banco.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640080" y="2395728"/>
            <a:ext cx="5212080" cy="1417320"/>
          </a:xfrm>
          <a:prstGeom prst="roundRect">
            <a:avLst>
              <a:gd fmla="val 5161" name="adj"/>
            </a:avLst>
          </a:prstGeom>
          <a:solidFill>
            <a:srgbClr val="1A1C22"/>
          </a:solidFill>
          <a:ln cap="flat" cmpd="sng" w="12700">
            <a:solidFill>
              <a:srgbClr val="2A2D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841248" y="2542032"/>
            <a:ext cx="48097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Proveedores de información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841248" y="2889504"/>
            <a:ext cx="4809744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DA0A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DA0A8"/>
                </a:solidFill>
                <a:latin typeface="Calibri"/>
                <a:ea typeface="Calibri"/>
                <a:cs typeface="Calibri"/>
                <a:sym typeface="Calibri"/>
              </a:rPr>
              <a:t>Bancos, emisores de tarjetas, AFP.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DA0A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DA0A8"/>
                </a:solidFill>
                <a:latin typeface="Calibri"/>
                <a:ea typeface="Calibri"/>
                <a:cs typeface="Calibri"/>
                <a:sym typeface="Calibri"/>
              </a:rPr>
              <a:t>Están obligados a exponer los datos.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6217920" y="2395728"/>
            <a:ext cx="5212080" cy="1417320"/>
          </a:xfrm>
          <a:prstGeom prst="roundRect">
            <a:avLst>
              <a:gd fmla="val 5161" name="adj"/>
            </a:avLst>
          </a:prstGeom>
          <a:solidFill>
            <a:srgbClr val="1A1C22"/>
          </a:solidFill>
          <a:ln cap="flat" cmpd="sng" w="12700">
            <a:solidFill>
              <a:srgbClr val="2A2D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6419088" y="2542032"/>
            <a:ext cx="48097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Proveedores de servicios basados en información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6419088" y="2889504"/>
            <a:ext cx="4809744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DA0A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DA0A8"/>
                </a:solidFill>
                <a:latin typeface="Calibri"/>
                <a:ea typeface="Calibri"/>
                <a:cs typeface="Calibri"/>
                <a:sym typeface="Calibri"/>
              </a:rPr>
              <a:t>Fintechs y aplicaciones. Consumen los datos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DA0A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DA0A8"/>
                </a:solidFill>
                <a:latin typeface="Calibri"/>
                <a:ea typeface="Calibri"/>
                <a:cs typeface="Calibri"/>
                <a:sym typeface="Calibri"/>
              </a:rPr>
              <a:t>con consentimiento del usuario.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217920" y="3950208"/>
            <a:ext cx="5212080" cy="502920"/>
          </a:xfrm>
          <a:prstGeom prst="roundRect">
            <a:avLst>
              <a:gd fmla="val 14545" name="adj"/>
            </a:avLst>
          </a:prstGeom>
          <a:solidFill>
            <a:srgbClr val="EE34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6217920" y="3950208"/>
            <a:ext cx="52120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VELVET WALLET ES DE ESTE TIPO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58" name="Google Shape;58;p3"/>
          <p:cNvGraphicFramePr/>
          <p:nvPr/>
        </p:nvGraphicFramePr>
        <p:xfrm>
          <a:off x="640080" y="47091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{96BCCCEB-90AD-4ED3-B8C1-A49E3925C339}</a:tableStyleId>
              </a:tblPr>
              <a:tblGrid>
                <a:gridCol w="3840475"/>
                <a:gridCol w="7040875"/>
              </a:tblGrid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Estado del estándar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30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Qué significa para el proyecto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304B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Entra en vigencia en julio de 2027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Construimos en la ventana de preparación, antes de que sea obligatorio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Especificación técnica ya publicada por la CMF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Portal del desarrollador público: APIs, seguridad, requerimientos no funcionales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</a:tr>
            </a:tbl>
          </a:graphicData>
        </a:graphic>
      </p:graphicFrame>
      <p:sp>
        <p:nvSpPr>
          <p:cNvPr id="59" name="Google Shape;59;p3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17A"/>
                </a:solidFill>
                <a:latin typeface="Calibri"/>
                <a:ea typeface="Calibri"/>
                <a:cs typeface="Calibri"/>
                <a:sym typeface="Calibri"/>
              </a:rPr>
              <a:t>Velvet Wallet  ·  Capstone APT122  · 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17A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014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4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34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E3450"/>
                </a:solidFill>
                <a:latin typeface="Calibri"/>
                <a:ea typeface="Calibri"/>
                <a:cs typeface="Calibri"/>
                <a:sym typeface="Calibri"/>
              </a:rPr>
              <a:t>2 · COMPETENCIAS DEL PERFIL DE EGRESO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alibri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Seis competencias de seis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40080" y="146304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345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E3450"/>
                </a:solidFill>
                <a:latin typeface="Calibri"/>
                <a:ea typeface="Calibri"/>
                <a:cs typeface="Calibri"/>
                <a:sym typeface="Calibri"/>
              </a:rPr>
              <a:t>El mínimo exigido por la asignatura es tres.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69" name="Google Shape;69;p4"/>
          <p:cNvGraphicFramePr/>
          <p:nvPr/>
        </p:nvGraphicFramePr>
        <p:xfrm>
          <a:off x="640080" y="19385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{96BCCCEB-90AD-4ED3-B8C1-A49E3925C339}</a:tableStyleId>
              </a:tblPr>
              <a:tblGrid>
                <a:gridCol w="4572000"/>
                <a:gridCol w="6309350"/>
              </a:tblGrid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Competencia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30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Dónde se evidencia en el proyecto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304B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· Soluciones de software de calidad, ciclo de vida completo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Pruebas unitarias de los motores deterministas y métricas del clasificador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· Bases de datos relacionales y no relacionales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PostgreSQL para el ledger · MongoDB para payloads de ingesta de esquema variable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· Ingeniería de requisitos para soluciones complejas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Requisitos derivados de las limitaciones detectadas en un prototipo previo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· Evaluación y gestión de proyectos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Análisis de capacidad y corrección documentada de un sobrecompromiso del 35%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· Estándares, marcos regulatorios y seguridad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NCG 514 · Anexo 3 · FAPI 2.0 · OAuth 2.0 · Ley 21.719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· Plataformas y dispositivos móviles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Aplicación en React Native + Expo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</a:tr>
            </a:tbl>
          </a:graphicData>
        </a:graphic>
      </p:graphicFrame>
      <p:sp>
        <p:nvSpPr>
          <p:cNvPr id="70" name="Google Shape;70;p4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17A"/>
                </a:solidFill>
                <a:latin typeface="Calibri"/>
                <a:ea typeface="Calibri"/>
                <a:cs typeface="Calibri"/>
                <a:sym typeface="Calibri"/>
              </a:rPr>
              <a:t>Velvet Wallet  ·  Capstone APT122  · 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17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014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34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E3450"/>
                </a:solidFill>
                <a:latin typeface="Calibri"/>
                <a:ea typeface="Calibri"/>
                <a:cs typeface="Calibri"/>
                <a:sym typeface="Calibri"/>
              </a:rPr>
              <a:t>3 · INTERESES PROFESIONALES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alibri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Relación con nuestros intereses profesionales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40080" y="1783080"/>
            <a:ext cx="5212080" cy="2103120"/>
          </a:xfrm>
          <a:prstGeom prst="roundRect">
            <a:avLst>
              <a:gd fmla="val 3478" name="adj"/>
            </a:avLst>
          </a:prstGeom>
          <a:solidFill>
            <a:srgbClr val="1A1C22"/>
          </a:solidFill>
          <a:ln cap="flat" cmpd="sng" w="12700">
            <a:solidFill>
              <a:srgbClr val="2A2D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"/>
          <p:cNvSpPr/>
          <p:nvPr/>
        </p:nvSpPr>
        <p:spPr>
          <a:xfrm>
            <a:off x="841248" y="1929384"/>
            <a:ext cx="48097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Desarrollo full-stack y trabajo con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841248" y="2276856"/>
            <a:ext cx="4809744" cy="1444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DA0A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DA0A8"/>
                </a:solidFill>
                <a:latin typeface="Calibri"/>
                <a:ea typeface="Calibri"/>
                <a:cs typeface="Calibri"/>
                <a:sym typeface="Calibri"/>
              </a:rPr>
              <a:t>El proyecto reúne backend en Python, modelos de aprendizaje automático, integración con un estándar bancario y desarrollo móvil: exactamente las áreas en que el equipo busca proyectarse.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217920" y="1783080"/>
            <a:ext cx="5212080" cy="2103120"/>
          </a:xfrm>
          <a:prstGeom prst="roundRect">
            <a:avLst>
              <a:gd fmla="val 3478" name="adj"/>
            </a:avLst>
          </a:prstGeom>
          <a:solidFill>
            <a:srgbClr val="1A1C22"/>
          </a:solidFill>
          <a:ln cap="flat" cmpd="sng" w="12700">
            <a:solidFill>
              <a:srgbClr val="2A2D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5"/>
          <p:cNvSpPr/>
          <p:nvPr/>
        </p:nvSpPr>
        <p:spPr>
          <a:xfrm>
            <a:off x="6419088" y="1929384"/>
            <a:ext cx="48097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Dominio fintech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419088" y="2276856"/>
            <a:ext cx="4809744" cy="14447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DA0A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DA0A8"/>
                </a:solidFill>
                <a:latin typeface="Calibri"/>
                <a:ea typeface="Calibri"/>
                <a:cs typeface="Calibri"/>
                <a:sym typeface="Calibri"/>
              </a:rPr>
              <a:t>Enfrentar un estándar regulatorio real y de vigencia próxima genera experiencia directamente aplicable al mercado fintech chileno.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40080" y="4160520"/>
            <a:ext cx="10881360" cy="1371600"/>
          </a:xfrm>
          <a:prstGeom prst="roundRect">
            <a:avLst>
              <a:gd fmla="val 5333" name="adj"/>
            </a:avLst>
          </a:prstGeom>
          <a:solidFill>
            <a:srgbClr val="2C1218"/>
          </a:solidFill>
          <a:ln cap="flat" cmpd="sng" w="19050">
            <a:solidFill>
              <a:srgbClr val="EE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5"/>
          <p:cNvSpPr/>
          <p:nvPr/>
        </p:nvSpPr>
        <p:spPr>
          <a:xfrm>
            <a:off x="868680" y="4288536"/>
            <a:ext cx="10424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34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E3450"/>
                </a:solidFill>
                <a:latin typeface="Calibri"/>
                <a:ea typeface="Calibri"/>
                <a:cs typeface="Calibri"/>
                <a:sym typeface="Calibri"/>
              </a:rPr>
              <a:t>El estándar entra en vigencia en julio de 2027. Titulamos en diciembre de 2026.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868680" y="4617720"/>
            <a:ext cx="104241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7E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7EB"/>
                </a:solidFill>
                <a:latin typeface="Calibri"/>
                <a:ea typeface="Calibri"/>
                <a:cs typeface="Calibri"/>
                <a:sym typeface="Calibri"/>
              </a:rPr>
              <a:t>Al momento de egresar seremos de los pocos profesionales en Chile con experiencia práctica implementando el estándar, justo cuando el mercado empieza a necesitarlo.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5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17A"/>
                </a:solidFill>
                <a:latin typeface="Calibri"/>
                <a:ea typeface="Calibri"/>
                <a:cs typeface="Calibri"/>
                <a:sym typeface="Calibri"/>
              </a:rPr>
              <a:t>Velvet Wallet  ·  Capstone APT122  · 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17A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014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34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E3450"/>
                </a:solidFill>
                <a:latin typeface="Calibri"/>
                <a:ea typeface="Calibri"/>
                <a:cs typeface="Calibri"/>
                <a:sym typeface="Calibri"/>
              </a:rPr>
              <a:t>4 · FACTIBILIDAD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alibri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El alcance cabe en el semestre, y lo demostramos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97" name="Google Shape;97;p6"/>
          <p:cNvGraphicFramePr/>
          <p:nvPr/>
        </p:nvGraphicFramePr>
        <p:xfrm>
          <a:off x="640080" y="173736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{96BCCCEB-90AD-4ED3-B8C1-A49E3925C339}</a:tableStyleId>
              </a:tblPr>
              <a:tblGrid>
                <a:gridCol w="3566150"/>
                <a:gridCol w="1554475"/>
              </a:tblGrid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Análisis de capacidad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30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50"/>
                        <a:buFont typeface="Calibri"/>
                        <a:buNone/>
                      </a:pPr>
                      <a:r>
                        <a:t/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304B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Semanas de desarrollo (5 a 15)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Integrantes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Capacidad bruta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22 sp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Dedicación real estimada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65%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Capacidad efectiva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~14 sp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</a:tr>
            </a:tbl>
          </a:graphicData>
        </a:graphic>
      </p:graphicFrame>
      <p:sp>
        <p:nvSpPr>
          <p:cNvPr id="98" name="Google Shape;98;p6"/>
          <p:cNvSpPr/>
          <p:nvPr/>
        </p:nvSpPr>
        <p:spPr>
          <a:xfrm>
            <a:off x="6126480" y="1737360"/>
            <a:ext cx="5394960" cy="1371600"/>
          </a:xfrm>
          <a:prstGeom prst="roundRect">
            <a:avLst>
              <a:gd fmla="val 5333" name="adj"/>
            </a:avLst>
          </a:prstGeom>
          <a:solidFill>
            <a:srgbClr val="2C1218"/>
          </a:solidFill>
          <a:ln cap="flat" cmpd="sng" w="19050">
            <a:solidFill>
              <a:srgbClr val="EE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6"/>
          <p:cNvSpPr/>
          <p:nvPr/>
        </p:nvSpPr>
        <p:spPr>
          <a:xfrm>
            <a:off x="6355080" y="1865376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34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E3450"/>
                </a:solidFill>
                <a:latin typeface="Calibri"/>
                <a:ea typeface="Calibri"/>
                <a:cs typeface="Calibri"/>
                <a:sym typeface="Calibri"/>
              </a:rPr>
              <a:t>Sobrecompromiso detectado en la semana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6355080" y="2194560"/>
            <a:ext cx="49377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7E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7EB"/>
                </a:solidFill>
                <a:latin typeface="Calibri"/>
                <a:ea typeface="Calibri"/>
                <a:cs typeface="Calibri"/>
                <a:sym typeface="Calibri"/>
              </a:rPr>
              <a:t>El alcance inicial sumaba 19 semanas-persona contra una capacidad de 14: un 35% de exceso.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6126480" y="3291840"/>
            <a:ext cx="5394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Cuatro medidas de reducción de alcance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6217920" y="3611880"/>
            <a:ext cx="53035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E7E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6E7EB"/>
                </a:solidFill>
                <a:latin typeface="Calibri"/>
                <a:ea typeface="Calibri"/>
                <a:cs typeface="Calibri"/>
                <a:sym typeface="Calibri"/>
              </a:rPr>
              <a:t>Simulador solo de consulta de datos, sin iniciación de pagos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E6E7E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6E7EB"/>
                </a:solidFill>
                <a:latin typeface="Calibri"/>
                <a:ea typeface="Calibri"/>
                <a:cs typeface="Calibri"/>
                <a:sym typeface="Calibri"/>
              </a:rPr>
              <a:t>Motor de créditos solo con cuotas fijas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E6E7E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6E7EB"/>
                </a:solidFill>
                <a:latin typeface="Calibri"/>
                <a:ea typeface="Calibri"/>
                <a:cs typeface="Calibri"/>
                <a:sym typeface="Calibri"/>
              </a:rPr>
              <a:t>Clasificador clásico en lugar de deep learning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E6E7E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6E7EB"/>
                </a:solidFill>
                <a:latin typeface="Calibri"/>
                <a:ea typeface="Calibri"/>
                <a:cs typeface="Calibri"/>
                <a:sym typeface="Calibri"/>
              </a:rPr>
              <a:t>Aplicación móvil solo con flujos núcleo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640080" y="3931920"/>
            <a:ext cx="5120640" cy="1051560"/>
          </a:xfrm>
          <a:prstGeom prst="roundRect">
            <a:avLst>
              <a:gd fmla="val 8696" name="adj"/>
            </a:avLst>
          </a:prstGeom>
          <a:solidFill>
            <a:srgbClr val="EE34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868680" y="4069080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Alcance ajustado: 14,5 semanas-persona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868680" y="4416552"/>
            <a:ext cx="4663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D9D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FFD9DE"/>
                </a:solidFill>
                <a:latin typeface="Calibri"/>
                <a:ea typeface="Calibri"/>
                <a:cs typeface="Calibri"/>
                <a:sym typeface="Calibri"/>
              </a:rPr>
              <a:t>Dentro de la capacidad disponible del equipo.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640080" y="5230368"/>
            <a:ext cx="10881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3450"/>
              </a:buClr>
              <a:buSzPts val="1250"/>
              <a:buFont typeface="Calibri"/>
              <a:buNone/>
            </a:pPr>
            <a:r>
              <a:rPr b="0" i="1" lang="en-US" sz="1250" u="none" cap="none" strike="noStrike">
                <a:solidFill>
                  <a:srgbClr val="EE3450"/>
                </a:solidFill>
                <a:latin typeface="Calibri"/>
                <a:ea typeface="Calibri"/>
                <a:cs typeface="Calibri"/>
                <a:sym typeface="Calibri"/>
              </a:rPr>
              <a:t>Detectar y corregir el sobrecompromiso en la primera semana es, en sí mismo, la evidencia de la competencia de gestión de proyectos.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17A"/>
                </a:solidFill>
                <a:latin typeface="Calibri"/>
                <a:ea typeface="Calibri"/>
                <a:cs typeface="Calibri"/>
                <a:sym typeface="Calibri"/>
              </a:rPr>
              <a:t>Velvet Wallet  ·  Capstone APT122  · 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17A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014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34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E3450"/>
                </a:solidFill>
                <a:latin typeface="Calibri"/>
                <a:ea typeface="Calibri"/>
                <a:cs typeface="Calibri"/>
                <a:sym typeface="Calibri"/>
              </a:rPr>
              <a:t>5 · OBJETIVOS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alibri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Objetivo general y específicos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640080" y="1645920"/>
            <a:ext cx="10881360" cy="1051560"/>
          </a:xfrm>
          <a:prstGeom prst="roundRect">
            <a:avLst>
              <a:gd fmla="val 8696" name="adj"/>
            </a:avLst>
          </a:prstGeom>
          <a:solidFill>
            <a:srgbClr val="1A1C22"/>
          </a:solidFill>
          <a:ln cap="flat" cmpd="sng" w="25400">
            <a:solidFill>
              <a:srgbClr val="EE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868680" y="1764792"/>
            <a:ext cx="10424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E6E7EB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E6E7EB"/>
                </a:solidFill>
                <a:latin typeface="Calibri"/>
                <a:ea typeface="Calibri"/>
                <a:cs typeface="Calibri"/>
                <a:sym typeface="Calibri"/>
              </a:rPr>
              <a:t>Desarrollar una aplicación móvil de gestión de finanzas personales que, actuando como consumidor del Sistema de Finanzas Abiertas chileno, automatice la captura y clasificación de movimientos financieros y entregue proyecciones probabilísticas de capacidad de ahorro, cumpliendo con la Ley 21.719 de protección de datos personales.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640080" y="2944368"/>
            <a:ext cx="402336" cy="402336"/>
          </a:xfrm>
          <a:prstGeom prst="roundRect">
            <a:avLst>
              <a:gd fmla="val 13636" name="adj"/>
            </a:avLst>
          </a:prstGeom>
          <a:solidFill>
            <a:srgbClr val="253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640080" y="294436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OE1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1188720" y="292608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7E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7EB"/>
                </a:solidFill>
                <a:latin typeface="Calibri"/>
                <a:ea typeface="Calibri"/>
                <a:cs typeface="Calibri"/>
                <a:sym typeface="Calibri"/>
              </a:rPr>
              <a:t>Implementar un pipeline de ingesta que normalice y deduplique movimientos desde múltiples fuentes hacia un modelo canónico único.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40080" y="3511296"/>
            <a:ext cx="402336" cy="402336"/>
          </a:xfrm>
          <a:prstGeom prst="roundRect">
            <a:avLst>
              <a:gd fmla="val 13636" name="adj"/>
            </a:avLst>
          </a:prstGeom>
          <a:solidFill>
            <a:srgbClr val="253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640080" y="3511296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OE2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1188720" y="3493008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7E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7EB"/>
                </a:solidFill>
                <a:latin typeface="Calibri"/>
                <a:ea typeface="Calibri"/>
                <a:cs typeface="Calibri"/>
                <a:sym typeface="Calibri"/>
              </a:rPr>
              <a:t>Construir un consumidor de APIs conforme al estándar técnico del SFA, validado contra un simulador de proveedor de información.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640080" y="4078224"/>
            <a:ext cx="402336" cy="402336"/>
          </a:xfrm>
          <a:prstGeom prst="roundRect">
            <a:avLst>
              <a:gd fmla="val 13636" name="adj"/>
            </a:avLst>
          </a:prstGeom>
          <a:solidFill>
            <a:srgbClr val="253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640080" y="407822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OE3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1188720" y="4059936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7E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7EB"/>
                </a:solidFill>
                <a:latin typeface="Calibri"/>
                <a:ea typeface="Calibri"/>
                <a:cs typeface="Calibri"/>
                <a:sym typeface="Calibri"/>
              </a:rPr>
              <a:t>Desarrollar un modelo de clasificación automática de transacciones con reentrenamiento a partir de las correcciones del usuario.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40080" y="4645152"/>
            <a:ext cx="402336" cy="402336"/>
          </a:xfrm>
          <a:prstGeom prst="roundRect">
            <a:avLst>
              <a:gd fmla="val 13636" name="adj"/>
            </a:avLst>
          </a:prstGeom>
          <a:solidFill>
            <a:srgbClr val="253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"/>
          <p:cNvSpPr/>
          <p:nvPr/>
        </p:nvSpPr>
        <p:spPr>
          <a:xfrm>
            <a:off x="640080" y="464515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OE4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7"/>
          <p:cNvSpPr/>
          <p:nvPr/>
        </p:nvSpPr>
        <p:spPr>
          <a:xfrm>
            <a:off x="1188720" y="4626864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7E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7EB"/>
                </a:solidFill>
                <a:latin typeface="Calibri"/>
                <a:ea typeface="Calibri"/>
                <a:cs typeface="Calibri"/>
                <a:sym typeface="Calibri"/>
              </a:rPr>
              <a:t>Diseñar un algoritmo de detección de gastos recurrentes tolerante a variaciones de monto, fecha y glosa.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640080" y="5212080"/>
            <a:ext cx="402336" cy="402336"/>
          </a:xfrm>
          <a:prstGeom prst="roundRect">
            <a:avLst>
              <a:gd fmla="val 13636" name="adj"/>
            </a:avLst>
          </a:prstGeom>
          <a:solidFill>
            <a:srgbClr val="253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7"/>
          <p:cNvSpPr/>
          <p:nvPr/>
        </p:nvSpPr>
        <p:spPr>
          <a:xfrm>
            <a:off x="640080" y="521208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OE5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1188720" y="5193792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7E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7EB"/>
                </a:solidFill>
                <a:latin typeface="Calibri"/>
                <a:ea typeface="Calibri"/>
                <a:cs typeface="Calibri"/>
                <a:sym typeface="Calibri"/>
              </a:rPr>
              <a:t>Implementar un motor de proyección Monte Carlo que entregue plazos de metas con intervalos de confianza.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640080" y="5779008"/>
            <a:ext cx="402336" cy="402336"/>
          </a:xfrm>
          <a:prstGeom prst="roundRect">
            <a:avLst>
              <a:gd fmla="val 13636" name="adj"/>
            </a:avLst>
          </a:prstGeom>
          <a:solidFill>
            <a:srgbClr val="25304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640080" y="577900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OE6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7"/>
          <p:cNvSpPr/>
          <p:nvPr/>
        </p:nvSpPr>
        <p:spPr>
          <a:xfrm>
            <a:off x="1188720" y="576072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7E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7EB"/>
                </a:solidFill>
                <a:latin typeface="Calibri"/>
                <a:ea typeface="Calibri"/>
                <a:cs typeface="Calibri"/>
                <a:sym typeface="Calibri"/>
              </a:rPr>
              <a:t>Implementar los mecanismos de cumplimiento de la Ley 21.719: consentimiento, portabilidad, auditoría y notificación de brechas.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17A"/>
                </a:solidFill>
                <a:latin typeface="Calibri"/>
                <a:ea typeface="Calibri"/>
                <a:cs typeface="Calibri"/>
                <a:sym typeface="Calibri"/>
              </a:rPr>
              <a:t>Velvet Wallet  ·  Capstone APT122  · 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17A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014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34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E3450"/>
                </a:solidFill>
                <a:latin typeface="Calibri"/>
                <a:ea typeface="Calibri"/>
                <a:cs typeface="Calibri"/>
                <a:sym typeface="Calibri"/>
              </a:rPr>
              <a:t>6 Y 9 · METODOLOGÍA DE TRABAJO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alibri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Ágil, iterativa e incremental por capas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640080" y="14630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3450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E3450"/>
                </a:solidFill>
                <a:latin typeface="Calibri"/>
                <a:ea typeface="Calibri"/>
                <a:cs typeface="Calibri"/>
                <a:sym typeface="Calibri"/>
              </a:rPr>
              <a:t>No adoptamos Scrum de forma estricta, y esa es una decisión razonada.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6" name="Google Shape;146;p8"/>
          <p:cNvGraphicFramePr/>
          <p:nvPr/>
        </p:nvGraphicFramePr>
        <p:xfrm>
          <a:off x="640080" y="1920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{96BCCCEB-90AD-4ED3-B8C1-A49E3925C339}</a:tableStyleId>
              </a:tblPr>
              <a:tblGrid>
                <a:gridCol w="3931925"/>
                <a:gridCol w="6949450"/>
              </a:tblGrid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Scrum exige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30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 qué no aplica en este proyecto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304B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Tres roles diferenciados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Somos dos personas, y no existe un Product Owner externo que priorice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Backlog repriorizable cada sprint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backlog está fijado por objetivos y fechas ya comprometidos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Ceremonias diarias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Jornada vespertina y otras asignaturas en paralelo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</a:tr>
            </a:tbl>
          </a:graphicData>
        </a:graphic>
      </p:graphicFrame>
      <p:sp>
        <p:nvSpPr>
          <p:cNvPr id="147" name="Google Shape;147;p8"/>
          <p:cNvSpPr/>
          <p:nvPr/>
        </p:nvSpPr>
        <p:spPr>
          <a:xfrm>
            <a:off x="640080" y="39319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Cómo trabajamos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731520" y="4251960"/>
            <a:ext cx="10789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E6E7E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6E7EB"/>
                </a:solidFill>
                <a:latin typeface="Calibri"/>
                <a:ea typeface="Calibri"/>
                <a:cs typeface="Calibri"/>
                <a:sym typeface="Calibri"/>
              </a:rPr>
              <a:t>Cada capa funcional es un incremento: se construye, prueba y documenta antes de integrarse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E6E7E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6E7EB"/>
                </a:solidFill>
                <a:latin typeface="Calibri"/>
                <a:ea typeface="Calibri"/>
                <a:cs typeface="Calibri"/>
                <a:sym typeface="Calibri"/>
              </a:rPr>
              <a:t>Primero los cimientos (ingesta, estándar y seguridad), después la inteligencia sobre los 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500"/>
              </a:spcBef>
              <a:spcAft>
                <a:spcPts val="0"/>
              </a:spcAft>
              <a:buClr>
                <a:srgbClr val="E6E7EB"/>
              </a:buClr>
              <a:buSzPts val="1200"/>
              <a:buFont typeface="Calibri"/>
              <a:buChar char="•"/>
            </a:pPr>
            <a:r>
              <a:rPr b="0" i="0" lang="en-US" sz="1200" u="none" cap="none" strike="noStrike">
                <a:solidFill>
                  <a:srgbClr val="E6E7EB"/>
                </a:solidFill>
                <a:latin typeface="Calibri"/>
                <a:ea typeface="Calibri"/>
                <a:cs typeface="Calibri"/>
                <a:sym typeface="Calibri"/>
              </a:rPr>
              <a:t>Ante una desviación, la variable de ajuste es el alcance: los plazos los fija la asignatura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640080" y="5349240"/>
            <a:ext cx="10881360" cy="566928"/>
          </a:xfrm>
          <a:prstGeom prst="roundRect">
            <a:avLst>
              <a:gd fmla="val 12903" name="adj"/>
            </a:avLst>
          </a:prstGeom>
          <a:solidFill>
            <a:srgbClr val="1A1C2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868680" y="5349240"/>
            <a:ext cx="1042416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6E7E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7EB"/>
                </a:solidFill>
                <a:latin typeface="Calibri"/>
                <a:ea typeface="Calibri"/>
                <a:cs typeface="Calibri"/>
                <a:sym typeface="Calibri"/>
              </a:rPr>
              <a:t>Ya operó dos veces: la corrección del sobrecompromiso del 35% y la adaptación del stack tecnológico con el proyecto iniciado.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17A"/>
                </a:solidFill>
                <a:latin typeface="Calibri"/>
                <a:ea typeface="Calibri"/>
                <a:cs typeface="Calibri"/>
                <a:sym typeface="Calibri"/>
              </a:rPr>
              <a:t>Velvet Wallet  ·  Capstone APT122  · 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17A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014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34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E3450"/>
                </a:solidFill>
                <a:latin typeface="Calibri"/>
                <a:ea typeface="Calibri"/>
                <a:cs typeface="Calibri"/>
                <a:sym typeface="Calibri"/>
              </a:rPr>
              <a:t>7 · PLAN DE TRABAJO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alibri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Cronograma y aporte de cada integrante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60" name="Google Shape;160;p9"/>
          <p:cNvGraphicFramePr/>
          <p:nvPr/>
        </p:nvGraphicFramePr>
        <p:xfrm>
          <a:off x="64008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{96BCCCEB-90AD-4ED3-B8C1-A49E3925C339}</a:tableStyleId>
              </a:tblPr>
              <a:tblGrid>
                <a:gridCol w="3017525"/>
                <a:gridCol w="1097275"/>
                <a:gridCol w="3383275"/>
                <a:gridCol w="3383275"/>
              </a:tblGrid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30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Semanas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30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Jossue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30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Pedro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304B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Definición y requisitos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– 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RNF · mockups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Esquema BD · RF · RACI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Base del proyecto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– 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Entorno · admin · contrato API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Repositorio · backend · modelo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Simulador y cliente del SFA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– 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APIs · mTLS · PAR · JWS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Autorización · RAR · tokens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Ingesta y normalización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– 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Sincronización · deduplicación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Payload crudo · glosas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Clasificación automática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8 – 11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Reglas · umbral · reentrenamiento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Dataset · modelo · revisión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Recurrencias y Monte Carlo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 – 12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Suscripciones · simulación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Periodicidad · proyección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Aplicación móvil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– 14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Sesión · gastos · conexiones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Estructura · dashboard · metas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Cumplimiento Ley 21.719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 – 14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Auditoría · supresión · brechas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Consentimientos · portabilidad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Integración, pruebas y cierre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– 18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Integración · datos de demo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Unitarias · métricas · docs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</a:tr>
            </a:tbl>
          </a:graphicData>
        </a:graphic>
      </p:graphicFrame>
      <p:sp>
        <p:nvSpPr>
          <p:cNvPr id="161" name="Google Shape;161;p9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17A"/>
                </a:solidFill>
                <a:latin typeface="Calibri"/>
                <a:ea typeface="Calibri"/>
                <a:cs typeface="Calibri"/>
                <a:sym typeface="Calibri"/>
              </a:rPr>
              <a:t>Velvet Wallet  ·  Capstone APT122  · 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17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014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0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34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E3450"/>
                </a:solidFill>
                <a:latin typeface="Calibri"/>
                <a:ea typeface="Calibri"/>
                <a:cs typeface="Calibri"/>
                <a:sym typeface="Calibri"/>
              </a:rPr>
              <a:t>8 · EVIDENCIAS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alibri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Qué entregamos y cuándo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0" name="Google Shape;170;p10"/>
          <p:cNvGraphicFramePr/>
          <p:nvPr/>
        </p:nvGraphicFramePr>
        <p:xfrm>
          <a:off x="640080" y="1783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{96BCCCEB-90AD-4ED3-B8C1-A49E3925C339}</a:tableStyleId>
              </a:tblPr>
              <a:tblGrid>
                <a:gridCol w="2743200"/>
                <a:gridCol w="1463050"/>
                <a:gridCol w="6675125"/>
              </a:tblGrid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Hito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30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Fecha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30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Evidencia comprometida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304B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Exposición Fase 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sept.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Definición del proyecto, requisitos, modelo de datos y mockups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Entrega de avance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12 · oct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Prototipo de ingesta con simulador SFA  ·  Modelo de clasificación con métricas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Entrega final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16 · nov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Aplicación móvil funcional  ·  Monte Carlo, recurrencias y cumplimiento operativos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Examen final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07 · dic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Demostración del sistema completo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</a:tr>
            </a:tbl>
          </a:graphicData>
        </a:graphic>
      </p:graphicFrame>
      <p:sp>
        <p:nvSpPr>
          <p:cNvPr id="171" name="Google Shape;171;p10"/>
          <p:cNvSpPr/>
          <p:nvPr/>
        </p:nvSpPr>
        <p:spPr>
          <a:xfrm>
            <a:off x="640080" y="4160520"/>
            <a:ext cx="10881360" cy="1371600"/>
          </a:xfrm>
          <a:prstGeom prst="roundRect">
            <a:avLst>
              <a:gd fmla="val 5333" name="adj"/>
            </a:avLst>
          </a:prstGeom>
          <a:solidFill>
            <a:srgbClr val="2C1218"/>
          </a:solidFill>
          <a:ln cap="flat" cmpd="sng" w="19050">
            <a:solidFill>
              <a:srgbClr val="EE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"/>
          <p:cNvSpPr/>
          <p:nvPr/>
        </p:nvSpPr>
        <p:spPr>
          <a:xfrm>
            <a:off x="868680" y="4288536"/>
            <a:ext cx="10424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34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E3450"/>
                </a:solidFill>
                <a:latin typeface="Calibri"/>
                <a:ea typeface="Calibri"/>
                <a:cs typeface="Calibri"/>
                <a:sym typeface="Calibri"/>
              </a:rPr>
              <a:t>La Ley 21.719 de protección de datos entra en vigencia el 1 de diciembre de 2026.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868680" y="4617720"/>
            <a:ext cx="1042416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7E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7EB"/>
                </a:solidFill>
                <a:latin typeface="Calibri"/>
                <a:ea typeface="Calibri"/>
                <a:cs typeface="Calibri"/>
                <a:sym typeface="Calibri"/>
              </a:rPr>
              <a:t>Seis días antes de nuestro examen. Presentaremos una aplicación que cumple una ley recién vigente.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17A"/>
                </a:solidFill>
                <a:latin typeface="Calibri"/>
                <a:ea typeface="Calibri"/>
                <a:cs typeface="Calibri"/>
                <a:sym typeface="Calibri"/>
              </a:rPr>
              <a:t>Velvet Wallet  ·  Capstone APT122  · 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0"/>
          <p:cNvSpPr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17A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014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34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E3450"/>
                </a:solidFill>
                <a:latin typeface="Calibri"/>
                <a:ea typeface="Calibri"/>
                <a:cs typeface="Calibri"/>
                <a:sym typeface="Calibri"/>
              </a:rPr>
              <a:t>10 · HERRAMIENTAS DE TRABAJO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1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alibri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Stack y herramientas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/>
          <p:nvPr/>
        </p:nvSpPr>
        <p:spPr>
          <a:xfrm>
            <a:off x="640080" y="1783080"/>
            <a:ext cx="3429000" cy="1417320"/>
          </a:xfrm>
          <a:prstGeom prst="roundRect">
            <a:avLst>
              <a:gd fmla="val 5161" name="adj"/>
            </a:avLst>
          </a:prstGeom>
          <a:solidFill>
            <a:srgbClr val="1A1C22"/>
          </a:solidFill>
          <a:ln cap="flat" cmpd="sng" w="12700">
            <a:solidFill>
              <a:srgbClr val="2A2D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841248" y="1929384"/>
            <a:ext cx="30266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/>
          <p:nvPr/>
        </p:nvSpPr>
        <p:spPr>
          <a:xfrm>
            <a:off x="841248" y="2276856"/>
            <a:ext cx="3026664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DA0A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DA0A8"/>
                </a:solidFill>
                <a:latin typeface="Calibri"/>
                <a:ea typeface="Calibri"/>
                <a:cs typeface="Calibri"/>
                <a:sym typeface="Calibri"/>
              </a:rPr>
              <a:t>Python 3.12 · FastAPI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DA0A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DA0A8"/>
                </a:solidFill>
                <a:latin typeface="Calibri"/>
                <a:ea typeface="Calibri"/>
                <a:cs typeface="Calibri"/>
                <a:sym typeface="Calibri"/>
              </a:rPr>
              <a:t>SQLModel · Alembic · Pydantic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/>
          <p:nvPr/>
        </p:nvSpPr>
        <p:spPr>
          <a:xfrm>
            <a:off x="4343400" y="1783080"/>
            <a:ext cx="3429000" cy="1417320"/>
          </a:xfrm>
          <a:prstGeom prst="roundRect">
            <a:avLst>
              <a:gd fmla="val 5161" name="adj"/>
            </a:avLst>
          </a:prstGeom>
          <a:solidFill>
            <a:srgbClr val="1A1C22"/>
          </a:solidFill>
          <a:ln cap="flat" cmpd="sng" w="12700">
            <a:solidFill>
              <a:srgbClr val="2A2D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1"/>
          <p:cNvSpPr/>
          <p:nvPr/>
        </p:nvSpPr>
        <p:spPr>
          <a:xfrm>
            <a:off x="4544568" y="1929384"/>
            <a:ext cx="30266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Bases de datos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1"/>
          <p:cNvSpPr/>
          <p:nvPr/>
        </p:nvSpPr>
        <p:spPr>
          <a:xfrm>
            <a:off x="4544568" y="2276856"/>
            <a:ext cx="3026664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DA0A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DA0A8"/>
                </a:solidFill>
                <a:latin typeface="Calibri"/>
                <a:ea typeface="Calibri"/>
                <a:cs typeface="Calibri"/>
                <a:sym typeface="Calibri"/>
              </a:rPr>
              <a:t>PostgreSQL · MongoDB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DA0A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DA0A8"/>
                </a:solidFill>
                <a:latin typeface="Calibri"/>
                <a:ea typeface="Calibri"/>
                <a:cs typeface="Calibri"/>
                <a:sym typeface="Calibri"/>
              </a:rPr>
              <a:t>Redis · Celery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/>
          <p:nvPr/>
        </p:nvSpPr>
        <p:spPr>
          <a:xfrm>
            <a:off x="8046720" y="1783080"/>
            <a:ext cx="3429000" cy="1417320"/>
          </a:xfrm>
          <a:prstGeom prst="roundRect">
            <a:avLst>
              <a:gd fmla="val 5161" name="adj"/>
            </a:avLst>
          </a:prstGeom>
          <a:solidFill>
            <a:srgbClr val="1A1C22"/>
          </a:solidFill>
          <a:ln cap="flat" cmpd="sng" w="12700">
            <a:solidFill>
              <a:srgbClr val="2A2D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1"/>
          <p:cNvSpPr/>
          <p:nvPr/>
        </p:nvSpPr>
        <p:spPr>
          <a:xfrm>
            <a:off x="8247888" y="1929384"/>
            <a:ext cx="30266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Estándar SFA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/>
          <p:nvPr/>
        </p:nvSpPr>
        <p:spPr>
          <a:xfrm>
            <a:off x="8247888" y="2276856"/>
            <a:ext cx="3026664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DA0A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DA0A8"/>
                </a:solidFill>
                <a:latin typeface="Calibri"/>
                <a:ea typeface="Calibri"/>
                <a:cs typeface="Calibri"/>
                <a:sym typeface="Calibri"/>
              </a:rPr>
              <a:t>httpx · Authlib · joserfc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DA0A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DA0A8"/>
                </a:solidFill>
                <a:latin typeface="Calibri"/>
                <a:ea typeface="Calibri"/>
                <a:cs typeface="Calibri"/>
                <a:sym typeface="Calibri"/>
              </a:rPr>
              <a:t>mTLS · OpenAPI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1"/>
          <p:cNvSpPr/>
          <p:nvPr/>
        </p:nvSpPr>
        <p:spPr>
          <a:xfrm>
            <a:off x="640080" y="3383280"/>
            <a:ext cx="3429000" cy="1417320"/>
          </a:xfrm>
          <a:prstGeom prst="roundRect">
            <a:avLst>
              <a:gd fmla="val 5161" name="adj"/>
            </a:avLst>
          </a:prstGeom>
          <a:solidFill>
            <a:srgbClr val="1A1C22"/>
          </a:solidFill>
          <a:ln cap="flat" cmpd="sng" w="12700">
            <a:solidFill>
              <a:srgbClr val="2A2D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1"/>
          <p:cNvSpPr/>
          <p:nvPr/>
        </p:nvSpPr>
        <p:spPr>
          <a:xfrm>
            <a:off x="841248" y="3529584"/>
            <a:ext cx="30266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Inteligencia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1"/>
          <p:cNvSpPr/>
          <p:nvPr/>
        </p:nvSpPr>
        <p:spPr>
          <a:xfrm>
            <a:off x="841248" y="3877056"/>
            <a:ext cx="3026664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DA0A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DA0A8"/>
                </a:solidFill>
                <a:latin typeface="Calibri"/>
                <a:ea typeface="Calibri"/>
                <a:cs typeface="Calibri"/>
                <a:sym typeface="Calibri"/>
              </a:rPr>
              <a:t>scikit-learn · NumPy · pandas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1"/>
          <p:cNvSpPr/>
          <p:nvPr/>
        </p:nvSpPr>
        <p:spPr>
          <a:xfrm>
            <a:off x="4343400" y="3383280"/>
            <a:ext cx="3429000" cy="1417320"/>
          </a:xfrm>
          <a:prstGeom prst="roundRect">
            <a:avLst>
              <a:gd fmla="val 5161" name="adj"/>
            </a:avLst>
          </a:prstGeom>
          <a:solidFill>
            <a:srgbClr val="1A1C22"/>
          </a:solidFill>
          <a:ln cap="flat" cmpd="sng" w="12700">
            <a:solidFill>
              <a:srgbClr val="2A2D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1"/>
          <p:cNvSpPr/>
          <p:nvPr/>
        </p:nvSpPr>
        <p:spPr>
          <a:xfrm>
            <a:off x="4544568" y="3529584"/>
            <a:ext cx="30266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Móvil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1"/>
          <p:cNvSpPr/>
          <p:nvPr/>
        </p:nvSpPr>
        <p:spPr>
          <a:xfrm>
            <a:off x="4544568" y="3877056"/>
            <a:ext cx="3026664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DA0A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DA0A8"/>
                </a:solidFill>
                <a:latin typeface="Calibri"/>
                <a:ea typeface="Calibri"/>
                <a:cs typeface="Calibri"/>
                <a:sym typeface="Calibri"/>
              </a:rPr>
              <a:t>React Native + Expo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DA0A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DA0A8"/>
                </a:solidFill>
                <a:latin typeface="Calibri"/>
                <a:ea typeface="Calibri"/>
                <a:cs typeface="Calibri"/>
                <a:sym typeface="Calibri"/>
              </a:rPr>
              <a:t>TypeScript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1"/>
          <p:cNvSpPr/>
          <p:nvPr/>
        </p:nvSpPr>
        <p:spPr>
          <a:xfrm>
            <a:off x="8046720" y="3383280"/>
            <a:ext cx="3429000" cy="1417320"/>
          </a:xfrm>
          <a:prstGeom prst="roundRect">
            <a:avLst>
              <a:gd fmla="val 5161" name="adj"/>
            </a:avLst>
          </a:prstGeom>
          <a:solidFill>
            <a:srgbClr val="1A1C22"/>
          </a:solidFill>
          <a:ln cap="flat" cmpd="sng" w="12700">
            <a:solidFill>
              <a:srgbClr val="2A2D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"/>
          <p:cNvSpPr/>
          <p:nvPr/>
        </p:nvSpPr>
        <p:spPr>
          <a:xfrm>
            <a:off x="8247888" y="3529584"/>
            <a:ext cx="302666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Gestión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8247888" y="3877056"/>
            <a:ext cx="3026664" cy="7589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DA0A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DA0A8"/>
                </a:solidFill>
                <a:latin typeface="Calibri"/>
                <a:ea typeface="Calibri"/>
                <a:cs typeface="Calibri"/>
                <a:sym typeface="Calibri"/>
              </a:rPr>
              <a:t>GitHub · GitHub Projects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DA0A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DA0A8"/>
                </a:solidFill>
                <a:latin typeface="Calibri"/>
                <a:ea typeface="Calibri"/>
                <a:cs typeface="Calibri"/>
                <a:sym typeface="Calibri"/>
              </a:rPr>
              <a:t>Issues · Conventional Commits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640080" y="5029200"/>
            <a:ext cx="10881360" cy="914400"/>
          </a:xfrm>
          <a:prstGeom prst="roundRect">
            <a:avLst>
              <a:gd fmla="val 10000" name="adj"/>
            </a:avLst>
          </a:prstGeom>
          <a:solidFill>
            <a:srgbClr val="1A1C22"/>
          </a:solidFill>
          <a:ln cap="flat" cmpd="sng" w="12700">
            <a:solidFill>
              <a:srgbClr val="2A2D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1"/>
          <p:cNvSpPr/>
          <p:nvPr/>
        </p:nvSpPr>
        <p:spPr>
          <a:xfrm>
            <a:off x="868680" y="5120640"/>
            <a:ext cx="10424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i="0" lang="en-US" sz="12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qué GitHub Projects y no Jira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868680" y="5413248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DA0A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DA0A8"/>
                </a:solidFill>
                <a:latin typeface="Calibri"/>
                <a:ea typeface="Calibri"/>
                <a:cs typeface="Calibri"/>
                <a:sym typeface="Calibri"/>
              </a:rPr>
              <a:t>La asignatura evalúa evidencia individual identificable. Cada tarea es una issue asignada a un integrante, que se cierra con un commit con su autoría, en el mismo repositorio público ya exigido. La trazabilidad tarea → responsable → código queda en un solo lugar.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17A"/>
                </a:solidFill>
                <a:latin typeface="Calibri"/>
                <a:ea typeface="Calibri"/>
                <a:cs typeface="Calibri"/>
                <a:sym typeface="Calibri"/>
              </a:rPr>
              <a:t>Velvet Wallet  ·  Capstone APT122  · 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17A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014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2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34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E3450"/>
                </a:solidFill>
                <a:latin typeface="Calibri"/>
                <a:ea typeface="Calibri"/>
                <a:cs typeface="Calibri"/>
                <a:sym typeface="Calibri"/>
              </a:rPr>
              <a:t>11 · MATRIZ RACI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/>
          <p:nvPr/>
        </p:nvSpPr>
        <p:spPr>
          <a:xfrm>
            <a:off x="2248980" y="123443"/>
            <a:ext cx="10881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alibri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Responsabilidades por actividad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640105" y="6116285"/>
            <a:ext cx="10881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A0A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DA0A8"/>
                </a:solidFill>
                <a:latin typeface="Calibri"/>
                <a:ea typeface="Calibri"/>
                <a:cs typeface="Calibri"/>
                <a:sym typeface="Calibri"/>
              </a:rPr>
              <a:t>R Responsable   ·   A Aprobador   ·   C Consultado   ·   I Informado          JP Jossue Padrón   ·   PT Pedro Torres   ·   DOC Docente APT122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2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17A"/>
                </a:solidFill>
                <a:latin typeface="Calibri"/>
                <a:ea typeface="Calibri"/>
                <a:cs typeface="Calibri"/>
                <a:sym typeface="Calibri"/>
              </a:rPr>
              <a:t>Velvet Wallet  ·  Capstone APT122  · 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17A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6" name="Google Shape;216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32200" y="753400"/>
            <a:ext cx="6489448" cy="5454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014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34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E3450"/>
                </a:solidFill>
                <a:latin typeface="Calibri"/>
                <a:ea typeface="Calibri"/>
                <a:cs typeface="Calibri"/>
                <a:sym typeface="Calibri"/>
              </a:rPr>
              <a:t>12 · MODELO DE DATOS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2218830" y="123406"/>
            <a:ext cx="108813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alibri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Esquema preliminar de bases de datos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640080" y="5852160"/>
            <a:ext cx="108813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DA0A8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9DA0A8"/>
                </a:solidFill>
                <a:latin typeface="Calibri"/>
                <a:ea typeface="Calibri"/>
                <a:cs typeface="Calibri"/>
                <a:sym typeface="Calibri"/>
              </a:rPr>
              <a:t>PostgreSQL — usuario, institución, conexión, cuenta, consentimiento, transacción, categoría, suscripción, meta, corrección, bitácora de auditoría        ·        MongoDB — payload crudo, logs, versiones de modelos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17A"/>
                </a:solidFill>
                <a:latin typeface="Calibri"/>
                <a:ea typeface="Calibri"/>
                <a:cs typeface="Calibri"/>
                <a:sym typeface="Calibri"/>
              </a:rPr>
              <a:t>Velvet Wallet  ·  Capstone APT122  · 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17A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7" name="Google Shape;227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68550" y="751424"/>
            <a:ext cx="6333552" cy="515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014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34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E3450"/>
                </a:solidFill>
                <a:latin typeface="Calibri"/>
                <a:ea typeface="Calibri"/>
                <a:cs typeface="Calibri"/>
                <a:sym typeface="Calibri"/>
              </a:rPr>
              <a:t>13 · REQUISITOS PRELIMINARES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alibri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36 funcionales y 43 no funcionales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640080" y="169164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Requisitos funcionales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6" name="Google Shape;236;p14"/>
          <p:cNvGraphicFramePr/>
          <p:nvPr/>
        </p:nvGraphicFramePr>
        <p:xfrm>
          <a:off x="640080" y="2011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{96BCCCEB-90AD-4ED3-B8C1-A49E3925C339}</a:tableStyleId>
              </a:tblPr>
              <a:tblGrid>
                <a:gridCol w="3931925"/>
                <a:gridCol w="1188725"/>
              </a:tblGrid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Objetivo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30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304B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Ingesta y normalización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Consumidor del SFA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Clasificación automática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Detección de recurrencias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Proyección financiera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Cumplimiento Ley 21.719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</a:tr>
            </a:tbl>
          </a:graphicData>
        </a:graphic>
      </p:graphicFrame>
      <p:sp>
        <p:nvSpPr>
          <p:cNvPr id="237" name="Google Shape;237;p14"/>
          <p:cNvSpPr/>
          <p:nvPr/>
        </p:nvSpPr>
        <p:spPr>
          <a:xfrm>
            <a:off x="6400800" y="169164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Requisitos no funcionales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8" name="Google Shape;238;p14"/>
          <p:cNvGraphicFramePr/>
          <p:nvPr/>
        </p:nvGraphicFramePr>
        <p:xfrm>
          <a:off x="6400800" y="20116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{96BCCCEB-90AD-4ED3-B8C1-A49E3925C339}</a:tableStyleId>
              </a:tblPr>
              <a:tblGrid>
                <a:gridCol w="3931925"/>
                <a:gridCol w="1188725"/>
              </a:tblGrid>
              <a:tr h="146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Origen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304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150"/>
                        <a:buFont typeface="Calibri"/>
                        <a:buNone/>
                      </a:pPr>
                      <a:r>
                        <a:rPr b="1" lang="en-US" sz="11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RNF</a:t>
                      </a:r>
                      <a:endParaRPr sz="11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5304B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Principios de producto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Estándar SFA / FAPI 2.0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7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Ley 21.719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11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</a:tr>
              <a:tr h="1397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Ingeniería y calidad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6E7EB"/>
                        </a:buClr>
                        <a:buSzPts val="1100"/>
                        <a:buFont typeface="Calibri"/>
                        <a:buNone/>
                      </a:pPr>
                      <a:r>
                        <a:rPr lang="en-US" sz="1100" u="none" cap="none" strike="noStrike">
                          <a:solidFill>
                            <a:srgbClr val="E6E7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14</a:t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B1E2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63500" marB="63500" marR="88900" marL="88900" anchor="ctr">
                    <a:lnL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2A2D35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6181E"/>
                    </a:solidFill>
                  </a:tcPr>
                </a:tc>
              </a:tr>
            </a:tbl>
          </a:graphicData>
        </a:graphic>
      </p:graphicFrame>
      <p:sp>
        <p:nvSpPr>
          <p:cNvPr id="239" name="Google Shape;239;p14"/>
          <p:cNvSpPr/>
          <p:nvPr/>
        </p:nvSpPr>
        <p:spPr>
          <a:xfrm>
            <a:off x="640080" y="4617720"/>
            <a:ext cx="10881360" cy="1234440"/>
          </a:xfrm>
          <a:prstGeom prst="roundRect">
            <a:avLst>
              <a:gd fmla="val 5926" name="adj"/>
            </a:avLst>
          </a:prstGeom>
          <a:solidFill>
            <a:srgbClr val="2C1218"/>
          </a:solidFill>
          <a:ln cap="flat" cmpd="sng" w="19050">
            <a:solidFill>
              <a:srgbClr val="EE34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4"/>
          <p:cNvSpPr/>
          <p:nvPr/>
        </p:nvSpPr>
        <p:spPr>
          <a:xfrm>
            <a:off x="868680" y="4745736"/>
            <a:ext cx="104241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34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E3450"/>
                </a:solidFill>
                <a:latin typeface="Calibri"/>
                <a:ea typeface="Calibri"/>
                <a:cs typeface="Calibri"/>
                <a:sym typeface="Calibri"/>
              </a:rPr>
              <a:t>Tres decisiones de diseño, no metas de calidad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4"/>
          <p:cNvSpPr/>
          <p:nvPr/>
        </p:nvSpPr>
        <p:spPr>
          <a:xfrm>
            <a:off x="868680" y="5074920"/>
            <a:ext cx="10424160" cy="6309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Clr>
                <a:srgbClr val="E6E7EB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6E7EB"/>
                </a:solidFill>
                <a:latin typeface="Calibri"/>
                <a:ea typeface="Calibri"/>
                <a:cs typeface="Calibri"/>
                <a:sym typeface="Calibri"/>
              </a:rPr>
              <a:t>Nunca mostrar un total que parezca completo cuando faltan datos  ·  El dato original del banco es inmutable, las correcciones son una capa aparte  ·  El clasificador se abstiene antes que inventar una categoría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4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17A"/>
                </a:solidFill>
                <a:latin typeface="Calibri"/>
                <a:ea typeface="Calibri"/>
                <a:cs typeface="Calibri"/>
                <a:sym typeface="Calibri"/>
              </a:rPr>
              <a:t>Velvet Wallet  ·  Capstone APT122  · 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4"/>
          <p:cNvSpPr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17A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014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"/>
          <p:cNvSpPr/>
          <p:nvPr/>
        </p:nvSpPr>
        <p:spPr>
          <a:xfrm>
            <a:off x="640080" y="384048"/>
            <a:ext cx="10881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E345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E3450"/>
                </a:solidFill>
                <a:latin typeface="Calibri"/>
                <a:ea typeface="Calibri"/>
                <a:cs typeface="Calibri"/>
                <a:sym typeface="Calibri"/>
              </a:rPr>
              <a:t>14 · MOCKUPS TENTATIVOS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5"/>
          <p:cNvSpPr/>
          <p:nvPr/>
        </p:nvSpPr>
        <p:spPr>
          <a:xfrm>
            <a:off x="640080" y="658368"/>
            <a:ext cx="108813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100"/>
              <a:buFont typeface="Calibri"/>
              <a:buNone/>
            </a:pPr>
            <a:r>
              <a:rPr b="1" i="0" lang="en-US" sz="3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Pantallas núcleo de la aplicación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:\Respaldos proyectos\Proyectos tesis\Gestor de finanzas\docs\mockups-png\01-negro-resumen-del-mes.png" id="251" name="Google Shape;2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481328"/>
            <a:ext cx="1580998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15"/>
          <p:cNvSpPr/>
          <p:nvPr/>
        </p:nvSpPr>
        <p:spPr>
          <a:xfrm>
            <a:off x="320040" y="4736592"/>
            <a:ext cx="20381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Resumen del mes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:\Respaldos proyectos\Proyectos tesis\Gestor de finanzas\docs\mockups-png\03-negro-movimientos.png" id="253" name="Google Shape;25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19451" y="1481328"/>
            <a:ext cx="1580998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15"/>
          <p:cNvSpPr/>
          <p:nvPr/>
        </p:nvSpPr>
        <p:spPr>
          <a:xfrm>
            <a:off x="2690851" y="4736592"/>
            <a:ext cx="20381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Movimientos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:\Respaldos proyectos\Proyectos tesis\Gestor de finanzas\docs\mockups-png\05-negro-por-revisar.png" id="255" name="Google Shape;25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90261" y="1481328"/>
            <a:ext cx="1580998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15"/>
          <p:cNvSpPr/>
          <p:nvPr/>
        </p:nvSpPr>
        <p:spPr>
          <a:xfrm>
            <a:off x="5061661" y="4736592"/>
            <a:ext cx="20381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Por revisar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:\Respaldos proyectos\Proyectos tesis\Gestor de finanzas\docs\mockups-png\07-negro-metas-de-ahorro.png" id="257" name="Google Shape;257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61072" y="1481328"/>
            <a:ext cx="1580998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5"/>
          <p:cNvSpPr/>
          <p:nvPr/>
        </p:nvSpPr>
        <p:spPr>
          <a:xfrm>
            <a:off x="7432472" y="4736592"/>
            <a:ext cx="20381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Metas de ahorro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:\Respaldos proyectos\Proyectos tesis\Gestor de finanzas\docs\mockups-png\08-negro-deudas-y-cuotas.png" id="259" name="Google Shape;25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031882" y="1481328"/>
            <a:ext cx="1580998" cy="32004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15"/>
          <p:cNvSpPr/>
          <p:nvPr/>
        </p:nvSpPr>
        <p:spPr>
          <a:xfrm>
            <a:off x="9803282" y="4736592"/>
            <a:ext cx="203819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Deudas y cuotas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548640" y="5120640"/>
            <a:ext cx="45720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17A"/>
              </a:buClr>
              <a:buSzPts val="950"/>
              <a:buFont typeface="Calibri"/>
              <a:buNone/>
            </a:pPr>
            <a:r>
              <a:rPr b="1" i="0" lang="en-US" sz="950" u="none" cap="none" strike="noStrike">
                <a:solidFill>
                  <a:srgbClr val="6E717A"/>
                </a:solidFill>
                <a:latin typeface="Calibri"/>
                <a:ea typeface="Calibri"/>
                <a:cs typeface="Calibri"/>
                <a:sym typeface="Calibri"/>
              </a:rPr>
              <a:t>PALETA ALTERNATIVA EVALUADA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:\Respaldos proyectos\Proyectos tesis\Gestor de finanzas\docs\mockups-png\01-plateado-resumen-del-mes.png" id="262" name="Google Shape;262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48640" y="5413248"/>
            <a:ext cx="564642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Respaldos proyectos\Proyectos tesis\Gestor de finanzas\docs\mockups-png\03-plateado-movimientos.png" id="263" name="Google Shape;263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77874" y="5413248"/>
            <a:ext cx="564642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Respaldos proyectos\Proyectos tesis\Gestor de finanzas\docs\mockups-png\05-plateado-por-revisar.png" id="264" name="Google Shape;264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2007108" y="5413248"/>
            <a:ext cx="564642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Respaldos proyectos\Proyectos tesis\Gestor de finanzas\docs\mockups-png\07-plateado-metas-de-ahorro.png" id="265" name="Google Shape;265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2736342" y="5413248"/>
            <a:ext cx="564642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:\Respaldos proyectos\Proyectos tesis\Gestor de finanzas\docs\mockups-png\08-plateado-deudas-y-cuotas.png" id="266" name="Google Shape;266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465576" y="5413248"/>
            <a:ext cx="564642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5"/>
          <p:cNvSpPr/>
          <p:nvPr/>
        </p:nvSpPr>
        <p:spPr>
          <a:xfrm>
            <a:off x="640080" y="63550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17A"/>
                </a:solidFill>
                <a:latin typeface="Calibri"/>
                <a:ea typeface="Calibri"/>
                <a:cs typeface="Calibri"/>
                <a:sym typeface="Calibri"/>
              </a:rPr>
              <a:t>Velvet Wallet  ·  Capstone APT122  ·  Fase 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10972800" y="635508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E717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6E717A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2026-08-31T13:53:04Z</dcterms:created>
  <dc:creator>PADRON JOSSUE - TORRES PEDRO</dc:creator>
</cp:coreProperties>
</file>